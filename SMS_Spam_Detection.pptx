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0A4A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0A4AE"/>
                </a:solidFill>
                <a:latin typeface="Arial"/>
              </a:rPr>
              <a:t>Class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8E5"/>
              </a:solidFill>
              <a:effectLst/>
            </c:spPr>
          </c:dPt>
          <c:dPt>
            <c:idx val="1"/>
            <c:bubble3D val="0"/>
            <c:spPr>
              <a:solidFill>
                <a:srgbClr val="FF17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Ham (86.6%)</c:v>
                </c:pt>
                <c:pt idx="1">
                  <c:v>Spam (13.4%)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4825</c:v>
                </c:pt>
                <c:pt idx="1">
                  <c:v>748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B2A"/>
    </a:solidFill>
    <a:ln w="12700" cap="flat">
      <a:solidFill>
        <a:srgbClr val="0D1B2A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B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Naive Bayes</c:v>
                  </c:pt>
                  <c:pt idx="1">
                    <c:v>Logistic Reg.</c:v>
                  </c:pt>
                  <c:pt idx="2">
                    <c:v>KNN (k=5)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</c:v>
                </c:pt>
                <c:pt idx="1">
                  <c:v>97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Naive Bayes</c:v>
                  </c:pt>
                  <c:pt idx="1">
                    <c:v>Logistic Reg.</c:v>
                  </c:pt>
                  <c:pt idx="2">
                    <c:v>KNN (k=5)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</c:v>
                </c:pt>
                <c:pt idx="1">
                  <c:v>95</c:v>
                </c:pt>
                <c:pt idx="2">
                  <c:v>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F6D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Naive Bayes</c:v>
                  </c:pt>
                  <c:pt idx="1">
                    <c:v>Logistic Reg.</c:v>
                  </c:pt>
                  <c:pt idx="2">
                    <c:v>KNN (k=5)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97</c:v>
                </c:pt>
                <c:pt idx="1">
                  <c:v>96</c:v>
                </c:pt>
                <c:pt idx="2">
                  <c:v>92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0C8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Naive Bayes</c:v>
                  </c:pt>
                  <c:pt idx="1">
                    <c:v>Logistic Reg.</c:v>
                  </c:pt>
                  <c:pt idx="2">
                    <c:v>KNN (k=5)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93</c:v>
                </c:pt>
                <c:pt idx="1">
                  <c:v>91</c:v>
                </c:pt>
                <c:pt idx="2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70"/>
        </c:scaling>
        <c:delete val="0"/>
        <c:axPos val="l"/>
        <c:majorGridlines>
          <c:spPr>
            <a:ln w="6350" cap="flat">
              <a:solidFill>
                <a:srgbClr val="1A2F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B2A"/>
    </a:solidFill>
    <a:ln w="12700" cap="flat">
      <a:solidFill>
        <a:srgbClr val="0D1B2A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0A4A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0A4AE"/>
                </a:solidFill>
                <a:latin typeface="Arial"/>
              </a:rPr>
              <a:t>Message Length: Ham vs Spam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Chars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Ham</c:v>
                  </c:pt>
                  <c:pt idx="1">
                    <c:v>Spam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138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Words</c:v>
                </c:pt>
              </c:strCache>
            </c:strRef>
          </c:tx>
          <c:spPr>
            <a:solidFill>
              <a:srgbClr val="FF1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Ham</c:v>
                  </c:pt>
                  <c:pt idx="1">
                    <c:v>Spam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</c:v>
                </c:pt>
                <c:pt idx="1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F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B2A"/>
    </a:solidFill>
    <a:ln w="12700" cap="flat">
      <a:solidFill>
        <a:srgbClr val="0D1B2A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0A4A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0A4AE"/>
                </a:solidFill>
                <a:latin typeface="Arial"/>
              </a:rPr>
              <a:t>Special Character Avg per Message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Ham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!</c:v>
                  </c:pt>
                  <c:pt idx="1">
                    <c:v>$£</c:v>
                  </c:pt>
                  <c:pt idx="2">
                    <c:v>Digits</c:v>
                  </c:pt>
                  <c:pt idx="3">
                    <c:v>CAPS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</c:v>
                </c:pt>
                <c:pt idx="1">
                  <c:v>0.02</c:v>
                </c:pt>
                <c:pt idx="2">
                  <c:v>1.2</c:v>
                </c:pt>
                <c:pt idx="3">
                  <c:v>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Spam</c:v>
                </c:pt>
              </c:strCache>
            </c:strRef>
          </c:tx>
          <c:spPr>
            <a:solidFill>
              <a:srgbClr val="FF1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!</c:v>
                  </c:pt>
                  <c:pt idx="1">
                    <c:v>$£</c:v>
                  </c:pt>
                  <c:pt idx="2">
                    <c:v>Digits</c:v>
                  </c:pt>
                  <c:pt idx="3">
                    <c:v>CAPS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</c:v>
                </c:pt>
                <c:pt idx="1">
                  <c:v>0.4</c:v>
                </c:pt>
                <c:pt idx="2">
                  <c:v>12.4</c:v>
                </c:pt>
                <c:pt idx="3">
                  <c:v>24.6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F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B2A"/>
    </a:solidFill>
    <a:ln w="12700" cap="flat">
      <a:solidFill>
        <a:srgbClr val="0D1B2A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2743200" cy="2743200"/>
          </a:xfrm>
          <a:prstGeom prst="ellipse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502920"/>
            <a:ext cx="2011680" cy="292608"/>
          </a:xfrm>
          <a:prstGeom prst="rect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02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</a:rPr>
              <a:t>FINAL PROJECT  · 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Spam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A4AE"/>
                </a:solidFill>
              </a:rPr>
              <a:t>Classifying messages as Spam or Ham using NLP &amp; Machine Learning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977640"/>
            <a:ext cx="3474720" cy="777240"/>
          </a:xfrm>
          <a:prstGeom prst="rect">
            <a:avLst/>
          </a:prstGeom>
          <a:solidFill>
            <a:srgbClr val="1A2F47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012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Ishfaque Ahmed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43159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Data Science · NLP · Machine Learning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0" y="4434840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1A2F4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44348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🤖 ML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60920" y="4434840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1A2F4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60920" y="44348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📊 NLP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4434840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1A2F4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21040" y="44348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⚡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</a:rPr>
              <a:t>What · Why · How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788920" cy="3566160"/>
          </a:xfrm>
          <a:prstGeom prst="rect">
            <a:avLst/>
          </a:prstGeom>
          <a:solidFill>
            <a:srgbClr val="1A2F47"/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88720"/>
            <a:ext cx="27889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371600"/>
            <a:ext cx="1143000" cy="11430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572768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65760" y="315468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An SMS message classifier that detects whether a message is Spam or Ham (legitimate) using Natural Language Processing.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72968" y="1188720"/>
            <a:ext cx="2788920" cy="3566160"/>
          </a:xfrm>
          <a:prstGeom prst="rect">
            <a:avLst/>
          </a:prstGeom>
          <a:solidFill>
            <a:srgbClr val="1A2F47"/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72968" y="1188720"/>
            <a:ext cx="278892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95928" y="1371600"/>
            <a:ext cx="1143000" cy="1143000"/>
          </a:xfrm>
          <a:prstGeom prst="ellipse">
            <a:avLst/>
          </a:prstGeom>
          <a:solidFill>
            <a:srgbClr val="00C853">
              <a:alpha val="20000"/>
            </a:srgbClr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6" y="1572768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64408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Why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310128" y="315468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Spam messages are a real threat — they deceive users with fake prizes and phishing links. Automating detection protects people at scale.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17336" y="1188720"/>
            <a:ext cx="2788920" cy="3566160"/>
          </a:xfrm>
          <a:prstGeom prst="rect">
            <a:avLst/>
          </a:prstGeom>
          <a:solidFill>
            <a:srgbClr val="1A2F47"/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17336" y="1188720"/>
            <a:ext cx="2788920" cy="5486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0296" y="1371600"/>
            <a:ext cx="1143000" cy="1143000"/>
          </a:xfrm>
          <a:prstGeom prst="ellipse">
            <a:avLst/>
          </a:prstGeom>
          <a:solidFill>
            <a:srgbClr val="FF6D00">
              <a:alpha val="20000"/>
            </a:srgbClr>
          </a:solidFill>
          <a:ln w="12700">
            <a:solidFill>
              <a:srgbClr val="FF6D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4" y="1572768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08776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How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254496" y="315468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TF-IDF vectorization + 6 hand-crafted features fed into 3 ML classifiers, wrapped in a fully interactive Streamlit 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</a:rPr>
              <a:t>UCI SMS Spam Collection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788920" cy="1371600"/>
          </a:xfrm>
          <a:prstGeom prst="rect">
            <a:avLst/>
          </a:prstGeom>
          <a:solidFill>
            <a:srgbClr val="1A2F47"/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88720"/>
            <a:ext cx="27889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3716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CD4"/>
                </a:solidFill>
              </a:rPr>
              <a:t>5,573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28600" y="2011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Total Messages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72968" y="1188720"/>
            <a:ext cx="2788920" cy="1371600"/>
          </a:xfrm>
          <a:prstGeom prst="rect">
            <a:avLst/>
          </a:prstGeom>
          <a:solidFill>
            <a:srgbClr val="1A2F47"/>
          </a:solidFill>
          <a:ln w="12700">
            <a:solidFill>
              <a:srgbClr val="00C853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1188720"/>
            <a:ext cx="278892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3716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853"/>
                </a:solidFill>
              </a:rPr>
              <a:t>4,825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172968" y="2011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Ham (86.6%)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17336" y="1188720"/>
            <a:ext cx="2788920" cy="1371600"/>
          </a:xfrm>
          <a:prstGeom prst="rect">
            <a:avLst/>
          </a:prstGeom>
          <a:solidFill>
            <a:srgbClr val="1A2F47"/>
          </a:solidFill>
          <a:ln w="12700">
            <a:solidFill>
              <a:srgbClr val="FF1744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1188720"/>
            <a:ext cx="2788920" cy="54864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3716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1744"/>
                </a:solidFill>
              </a:rPr>
              <a:t>748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117336" y="2011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Spam (13.4%)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228600" y="2743200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4663440" y="2743200"/>
            <a:ext cx="4206240" cy="2194560"/>
          </a:xfrm>
          <a:prstGeom prst="rect">
            <a:avLst/>
          </a:prstGeom>
          <a:solidFill>
            <a:srgbClr val="1A2F47"/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2834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Key Features Extracted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54880" y="3200400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4AE"/>
                </a:solidFill>
              </a:rPr>
              <a:t>Character count per message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4AE"/>
                </a:solidFill>
              </a:rPr>
              <a:t>Word count per message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4AE"/>
                </a:solidFill>
              </a:rPr>
              <a:t>Exclamation marks ( ! 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4AE"/>
                </a:solidFill>
              </a:rPr>
              <a:t>Currency symbols ( $ £ 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4AE"/>
                </a:solidFill>
              </a:rPr>
              <a:t>Digit 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4AE"/>
                </a:solidFill>
              </a:rPr>
              <a:t>Uppercase letter count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</a:rPr>
              <a:t>The ML Pipeline — from raw SMS to prediction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1554480" cy="3200400"/>
          </a:xfrm>
          <a:prstGeom prst="rect">
            <a:avLst/>
          </a:prstGeom>
          <a:solidFill>
            <a:srgbClr val="1A2F47"/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155448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71600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01168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1752" y="269748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Raw SMS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040" y="315468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5,573 messages loaded from dataset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801368" y="2606040"/>
            <a:ext cx="164592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28800" y="24688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965960" y="1234440"/>
            <a:ext cx="1554480" cy="3200400"/>
          </a:xfrm>
          <a:prstGeom prst="rect">
            <a:avLst/>
          </a:prstGeom>
          <a:solidFill>
            <a:srgbClr val="1A2F47"/>
          </a:solidFill>
          <a:ln w="12700">
            <a:solidFill>
              <a:srgbClr val="1E88E5">
                <a:alpha val="5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965960" y="1234440"/>
            <a:ext cx="155448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87168" y="1371600"/>
            <a:ext cx="502920" cy="5029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8716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201168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039112" y="269748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TF-IDF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057400" y="315468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Text → 1,000 numerical features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538728" y="2606040"/>
            <a:ext cx="164592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566160" y="24688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3703320" y="1234440"/>
            <a:ext cx="1554480" cy="3200400"/>
          </a:xfrm>
          <a:prstGeom prst="rect">
            <a:avLst/>
          </a:prstGeom>
          <a:solidFill>
            <a:srgbClr val="1A2F47"/>
          </a:solidFill>
          <a:ln w="12700">
            <a:solidFill>
              <a:srgbClr val="FF6D00">
                <a:alpha val="50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703320" y="1234440"/>
            <a:ext cx="1554480" cy="5486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224528" y="1371600"/>
            <a:ext cx="502920" cy="50292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22452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2011680"/>
            <a:ext cx="502920" cy="5029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776472" y="269748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EDA Features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3794760" y="315468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6 hand-crafted pattern features added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5276088" y="2606040"/>
            <a:ext cx="164592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303520" y="24688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▶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5440680" y="1234440"/>
            <a:ext cx="1554480" cy="3200400"/>
          </a:xfrm>
          <a:prstGeom prst="rect">
            <a:avLst/>
          </a:prstGeom>
          <a:solidFill>
            <a:srgbClr val="1A2F47"/>
          </a:solidFill>
          <a:ln w="12700">
            <a:solidFill>
              <a:srgbClr val="00C853">
                <a:alpha val="5000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440680" y="1234440"/>
            <a:ext cx="155448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961888" y="1371600"/>
            <a:ext cx="502920" cy="50292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96188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2011680"/>
            <a:ext cx="502920" cy="50292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513832" y="269748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 Models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5532120" y="315468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3 classifiers trained on combined features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7013448" y="2606040"/>
            <a:ext cx="164592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040880" y="24688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▶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7178040" y="1234440"/>
            <a:ext cx="1554480" cy="3200400"/>
          </a:xfrm>
          <a:prstGeom prst="rect">
            <a:avLst/>
          </a:prstGeom>
          <a:solidFill>
            <a:srgbClr val="1A2F47"/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7178040" y="1234440"/>
            <a:ext cx="15544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7699248" y="1371600"/>
            <a:ext cx="502920" cy="5029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769924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5</a:t>
            </a:r>
            <a:endParaRPr lang="en-US" sz="1600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2" y="2011680"/>
            <a:ext cx="502920" cy="50292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7251192" y="269748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Prediction</a:t>
            </a:r>
            <a:endParaRPr lang="en-US" sz="1300" dirty="0"/>
          </a:p>
        </p:txBody>
      </p:sp>
      <p:sp>
        <p:nvSpPr>
          <p:cNvPr id="48" name="Text 41"/>
          <p:cNvSpPr/>
          <p:nvPr/>
        </p:nvSpPr>
        <p:spPr>
          <a:xfrm>
            <a:off x="7269480" y="315468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SPAM 🚨 or HAM ✅ + confidence score</a:t>
            </a:r>
            <a:endParaRPr lang="en-US" sz="950" dirty="0"/>
          </a:p>
        </p:txBody>
      </p:sp>
      <p:sp>
        <p:nvSpPr>
          <p:cNvPr id="49" name="Text 42"/>
          <p:cNvSpPr/>
          <p:nvPr/>
        </p:nvSpPr>
        <p:spPr>
          <a:xfrm>
            <a:off x="228600" y="46634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</a:rPr>
              <a:t>Train/Test Split: 80% Training  ·  20% Testing  ·  Stratified by label  ·  Random state: 42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</a:rPr>
              <a:t>Three classifiers trained and compared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788920" cy="3657600"/>
          </a:xfrm>
          <a:prstGeom prst="rect">
            <a:avLst/>
          </a:prstGeom>
          <a:solidFill>
            <a:srgbClr val="1A2F47"/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88720"/>
            <a:ext cx="278892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2618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🥇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01752" y="1783080"/>
            <a:ext cx="2642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Naive Bayes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2240280" cy="548640"/>
          </a:xfrm>
          <a:prstGeom prst="rect">
            <a:avLst/>
          </a:prstGeom>
          <a:solidFill>
            <a:srgbClr val="132338"/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68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Accuracy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67919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</a:rPr>
              <a:t>98%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45920" y="2560320"/>
            <a:ext cx="868680" cy="9144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2560320"/>
            <a:ext cx="851306" cy="91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108960"/>
            <a:ext cx="2240280" cy="548640"/>
          </a:xfrm>
          <a:prstGeom prst="rect">
            <a:avLst/>
          </a:prstGeom>
          <a:solidFill>
            <a:srgbClr val="132338"/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54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F1 Score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36499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</a:rPr>
              <a:t>93%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645920" y="3246120"/>
            <a:ext cx="868680" cy="9144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0" y="3246120"/>
            <a:ext cx="807872" cy="91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3886200"/>
            <a:ext cx="2569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Probabilistic classifier based on Bayes' theorem. Fast, simple, and highly effective for text classification tasks.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72968" y="1188720"/>
            <a:ext cx="2788920" cy="3657600"/>
          </a:xfrm>
          <a:prstGeom prst="rect">
            <a:avLst/>
          </a:prstGeom>
          <a:solidFill>
            <a:srgbClr val="1A2F47"/>
          </a:solidFill>
          <a:ln w="12700">
            <a:solidFill>
              <a:srgbClr val="1E88E5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72968" y="1188720"/>
            <a:ext cx="278892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12618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🥈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46120" y="1783080"/>
            <a:ext cx="2642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Logistic Regression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447288" y="2423160"/>
            <a:ext cx="2240280" cy="548640"/>
          </a:xfrm>
          <a:prstGeom prst="rect">
            <a:avLst/>
          </a:prstGeom>
          <a:solidFill>
            <a:srgbClr val="132338"/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2468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Accuracy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93008" y="267919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8E5"/>
                </a:solidFill>
              </a:rPr>
              <a:t>97%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90288" y="2560320"/>
            <a:ext cx="868680" cy="9144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90288" y="2560320"/>
            <a:ext cx="842620" cy="914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47288" y="3108960"/>
            <a:ext cx="2240280" cy="548640"/>
          </a:xfrm>
          <a:prstGeom prst="rect">
            <a:avLst/>
          </a:prstGeom>
          <a:solidFill>
            <a:srgbClr val="132338"/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3154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F1 Score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93008" y="336499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8E5"/>
                </a:solidFill>
              </a:rPr>
              <a:t>91%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90288" y="3246120"/>
            <a:ext cx="868680" cy="9144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90288" y="3246120"/>
            <a:ext cx="790499" cy="914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82696" y="3886200"/>
            <a:ext cx="2569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Linear model that predicts spam probability. Robust, interpretable, and handles high-dimensional TF-IDF features well.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17336" y="1188720"/>
            <a:ext cx="2788920" cy="3657600"/>
          </a:xfrm>
          <a:prstGeom prst="rect">
            <a:avLst/>
          </a:prstGeom>
          <a:solidFill>
            <a:srgbClr val="1A2F47"/>
          </a:solidFill>
          <a:ln w="12700">
            <a:solidFill>
              <a:srgbClr val="FF6D00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17336" y="1188720"/>
            <a:ext cx="2788920" cy="640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0488" y="12618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🥉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190488" y="1783080"/>
            <a:ext cx="2642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KNN (k=5, cosine)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391656" y="2423160"/>
            <a:ext cx="2240280" cy="548640"/>
          </a:xfrm>
          <a:prstGeom prst="rect">
            <a:avLst/>
          </a:prstGeom>
          <a:solidFill>
            <a:srgbClr val="132338"/>
          </a:solidFill>
          <a:ln w="12700">
            <a:solidFill>
              <a:srgbClr val="FF6D00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37376" y="2468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Accuracy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37376" y="267919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D00"/>
                </a:solidFill>
              </a:rPr>
              <a:t>95%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34656" y="2560320"/>
            <a:ext cx="868680" cy="9144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34656" y="2560320"/>
            <a:ext cx="825246" cy="9144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91656" y="3108960"/>
            <a:ext cx="2240280" cy="548640"/>
          </a:xfrm>
          <a:prstGeom prst="rect">
            <a:avLst/>
          </a:prstGeom>
          <a:solidFill>
            <a:srgbClr val="132338"/>
          </a:solidFill>
          <a:ln w="12700">
            <a:solidFill>
              <a:srgbClr val="FF6D00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37376" y="3154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F1 Score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37376" y="336499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D00"/>
                </a:solidFill>
              </a:rPr>
              <a:t>88%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34656" y="3246120"/>
            <a:ext cx="868680" cy="9144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34656" y="3246120"/>
            <a:ext cx="764438" cy="9144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27064" y="3886200"/>
            <a:ext cx="2569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Instance-based learner using cosine distance. Groups similar messages together for classification.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</a:rPr>
              <a:t>Model evaluation metrics on 20% held-out test set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28600" y="109728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234440"/>
          <a:ext cx="3017520" cy="16002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82296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F1 Score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Naive Bayes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98%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93%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Logistic Reg.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8E5"/>
                          </a:solidFill>
                        </a:rPr>
                        <a:t>97%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8E5"/>
                          </a:solidFill>
                        </a:rPr>
                        <a:t>91%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KNN (k=5)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D00"/>
                          </a:solidFill>
                        </a:rPr>
                        <a:t>95%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D00"/>
                          </a:solidFill>
                        </a:rPr>
                        <a:t>88%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7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852160" y="3017520"/>
            <a:ext cx="3017520" cy="1783080"/>
          </a:xfrm>
          <a:prstGeom prst="rect">
            <a:avLst/>
          </a:prstGeom>
          <a:solidFill>
            <a:srgbClr val="1A2F47"/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852160" y="3017520"/>
            <a:ext cx="30175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0" y="3090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Key Insight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943600" y="3401568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Naive Bayes achieved the best F1 score of 93% — proving that simple probabilistic models excel at text spam detection when combined with well-engineered features.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</a:rPr>
              <a:t>Patterns found in the data before modelling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28600" y="1097280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63440" y="1097280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28600" y="3611880"/>
            <a:ext cx="2057400" cy="1234440"/>
          </a:xfrm>
          <a:prstGeom prst="rect">
            <a:avLst/>
          </a:prstGeom>
          <a:solidFill>
            <a:srgbClr val="1A2F47"/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" y="36576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📏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320040" y="40690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Spam messages are ~2× longer on average than ham messages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441448" y="3611880"/>
            <a:ext cx="2057400" cy="1234440"/>
          </a:xfrm>
          <a:prstGeom prst="rect">
            <a:avLst/>
          </a:prstGeom>
          <a:solidFill>
            <a:srgbClr val="1A2F47"/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441448" y="36576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532888" y="40690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Spam uses 20× more currency symbols ($, £) than ham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54296" y="3611880"/>
            <a:ext cx="2057400" cy="1234440"/>
          </a:xfrm>
          <a:prstGeom prst="rect">
            <a:avLst/>
          </a:prstGeom>
          <a:solidFill>
            <a:srgbClr val="1A2F47"/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54296" y="36576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🔠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745736" y="40690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Spam contains 6× more uppercase letters — urgency tactic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867144" y="3611880"/>
            <a:ext cx="2057400" cy="1234440"/>
          </a:xfrm>
          <a:prstGeom prst="rect">
            <a:avLst/>
          </a:prstGeom>
          <a:solidFill>
            <a:srgbClr val="1A2F47"/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67144" y="36576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958584" y="40690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Spam has 10× more digits — often phone numbers or codes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</a:rPr>
              <a:t>6-page interactive web application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788920" cy="1645920"/>
          </a:xfrm>
          <a:prstGeom prst="rect">
            <a:avLst/>
          </a:prstGeom>
          <a:solidFill>
            <a:srgbClr val="1A2F47"/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88720"/>
            <a:ext cx="64008" cy="1645920"/>
          </a:xfrm>
          <a:prstGeom prst="rect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🏠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KPIs, leaderboard, pipeline overview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188720"/>
            <a:ext cx="2788920" cy="1645920"/>
          </a:xfrm>
          <a:prstGeom prst="rect">
            <a:avLst/>
          </a:prstGeom>
          <a:solidFill>
            <a:srgbClr val="1A2F47"/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188720"/>
            <a:ext cx="64008" cy="1645920"/>
          </a:xfrm>
          <a:prstGeom prst="rect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041648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Dataset Explorer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41648" y="1783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Filter, search, browse 5,573 messages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17336" y="1188720"/>
            <a:ext cx="2788920" cy="1645920"/>
          </a:xfrm>
          <a:prstGeom prst="rect">
            <a:avLst/>
          </a:prstGeom>
          <a:solidFill>
            <a:srgbClr val="1A2F47"/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17336" y="1188720"/>
            <a:ext cx="64008" cy="1645920"/>
          </a:xfrm>
          <a:prstGeom prst="rect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86016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EDA &amp; Visuals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86016" y="1783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Word clouds, charts, top words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063240"/>
            <a:ext cx="2788920" cy="1645920"/>
          </a:xfrm>
          <a:prstGeom prst="rect">
            <a:avLst/>
          </a:prstGeom>
          <a:solidFill>
            <a:srgbClr val="1A2F47"/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063240"/>
            <a:ext cx="64008" cy="1645920"/>
          </a:xfrm>
          <a:prstGeom prst="rect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46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9728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 Comparison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657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Bar charts, confusion matrices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72968" y="3063240"/>
            <a:ext cx="2788920" cy="1645920"/>
          </a:xfrm>
          <a:prstGeom prst="rect">
            <a:avLst/>
          </a:prstGeom>
          <a:solidFill>
            <a:srgbClr val="1A2F47"/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72968" y="3063240"/>
            <a:ext cx="64008" cy="1645920"/>
          </a:xfrm>
          <a:prstGeom prst="rect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3246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041648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Predict Message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041648" y="3657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Live prediction + keyword highlights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17336" y="3063240"/>
            <a:ext cx="2788920" cy="1645920"/>
          </a:xfrm>
          <a:prstGeom prst="rect">
            <a:avLst/>
          </a:prstGeom>
          <a:solidFill>
            <a:srgbClr val="1A2F47"/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17336" y="3063240"/>
            <a:ext cx="64008" cy="1645920"/>
          </a:xfrm>
          <a:prstGeom prst="rect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3246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📂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986016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Upload &amp; Predict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86016" y="3657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Batch CSV prediction + download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457200"/>
            <a:ext cx="3200400" cy="3200400"/>
          </a:xfrm>
          <a:prstGeom prst="ellipse">
            <a:avLst/>
          </a:prstGeom>
          <a:solidFill>
            <a:srgbClr val="00BCD4">
              <a:alpha val="12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CD4"/>
                </a:solidFill>
              </a:rPr>
              <a:t>What was achieved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160520" cy="868680"/>
          </a:xfrm>
          <a:prstGeom prst="rect">
            <a:avLst/>
          </a:prstGeom>
          <a:solidFill>
            <a:srgbClr val="1A2F47"/>
          </a:solidFill>
          <a:ln w="12700">
            <a:solidFill>
              <a:srgbClr val="00C853">
                <a:alpha val="3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1848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5087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Built a complete end-to-end SMS spam detection pipeline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92040" y="1417320"/>
            <a:ext cx="4160520" cy="868680"/>
          </a:xfrm>
          <a:prstGeom prst="rect">
            <a:avLst/>
          </a:prstGeom>
          <a:solidFill>
            <a:srgbClr val="1A2F47"/>
          </a:solidFill>
          <a:ln w="12700">
            <a:solidFill>
              <a:srgbClr val="00C853">
                <a:alpha val="3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1848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5087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Achieved 98% accuracy and 93% F1 Score with Naive Bayes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468880"/>
            <a:ext cx="4160520" cy="868680"/>
          </a:xfrm>
          <a:prstGeom prst="rect">
            <a:avLst/>
          </a:prstGeom>
          <a:solidFill>
            <a:srgbClr val="1A2F47"/>
          </a:solidFill>
          <a:ln w="12700">
            <a:solidFill>
              <a:srgbClr val="00C853">
                <a:alpha val="3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70048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5603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Engineered 6 hand-crafted features on top of TF-IDF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92040" y="2468880"/>
            <a:ext cx="4160520" cy="868680"/>
          </a:xfrm>
          <a:prstGeom prst="rect">
            <a:avLst/>
          </a:prstGeom>
          <a:solidFill>
            <a:srgbClr val="1A2F47"/>
          </a:solidFill>
          <a:ln w="12700">
            <a:solidFill>
              <a:srgbClr val="00C853">
                <a:alpha val="30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70048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25603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Compared 3 models with full metrics and confusion matrices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7200" y="3520440"/>
            <a:ext cx="4160520" cy="868680"/>
          </a:xfrm>
          <a:prstGeom prst="rect">
            <a:avLst/>
          </a:prstGeom>
          <a:solidFill>
            <a:srgbClr val="1A2F47"/>
          </a:solidFill>
          <a:ln w="12700">
            <a:solidFill>
              <a:srgbClr val="00C853">
                <a:alpha val="3000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21608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7280" y="36118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Deployed as a live Streamlit web app with 6 interactive pages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892040" y="3520440"/>
            <a:ext cx="4160520" cy="868680"/>
          </a:xfrm>
          <a:prstGeom prst="rect">
            <a:avLst/>
          </a:prstGeom>
          <a:solidFill>
            <a:srgbClr val="1A2F47"/>
          </a:solidFill>
          <a:ln w="12700">
            <a:solidFill>
              <a:srgbClr val="00BCD4">
                <a:alpha val="3000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721608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532120" y="36118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Added CSV upload feature for real-world batch predictions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Ishfaque Ahmed  ·  SMS Spam Detection  ·  2026  ·  spam-sms-detecter.streamlit.app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SMS Spam Detection</dc:title>
  <dc:subject>PptxGenJS Presentation</dc:subject>
  <dc:creator>Ishfaque Ahmed</dc:creator>
  <cp:lastModifiedBy>Ishfaque Ahmed</cp:lastModifiedBy>
  <cp:revision>1</cp:revision>
  <dcterms:created xsi:type="dcterms:W3CDTF">2026-03-06T19:41:57Z</dcterms:created>
  <dcterms:modified xsi:type="dcterms:W3CDTF">2026-03-06T19:41:57Z</dcterms:modified>
</cp:coreProperties>
</file>